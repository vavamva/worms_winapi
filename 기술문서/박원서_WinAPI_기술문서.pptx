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9" r:id="rId8"/>
    <p:sldId id="271" r:id="rId9"/>
    <p:sldId id="273" r:id="rId10"/>
    <p:sldId id="270" r:id="rId11"/>
    <p:sldId id="264" r:id="rId12"/>
    <p:sldId id="265" r:id="rId13"/>
    <p:sldId id="268" r:id="rId14"/>
    <p:sldId id="266" r:id="rId15"/>
    <p:sldId id="267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0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12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35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91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93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54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41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0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2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6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EDF08-9090-4541-988A-2CBA76157B59}" type="datetimeFigureOut">
              <a:rPr lang="ko-KR" altLang="en-US" smtClean="0"/>
              <a:t>2025-01-13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6F3577E-D149-442B-8CC0-8437838451A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97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E61D1-1E8B-22C6-87C3-B3F7BA5D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016050"/>
            <a:ext cx="8637073" cy="200396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Portfolio :</a:t>
            </a:r>
            <a:br>
              <a:rPr lang="en-US" altLang="ko-KR" dirty="0"/>
            </a:br>
            <a:r>
              <a:rPr lang="en-US" altLang="ko-KR" dirty="0"/>
              <a:t>Window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F059-ECA5-D5CC-4E25-A95235909F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박원서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654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99B27-4019-E88A-110A-747ED795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B028D0-5296-9FE0-1ED5-CC7C362C1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개요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게임 설명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클래스 개요도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기능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후기</a:t>
            </a:r>
          </a:p>
        </p:txBody>
      </p:sp>
    </p:spTree>
    <p:extLst>
      <p:ext uri="{BB962C8B-B14F-4D97-AF65-F5344CB8AC3E}">
        <p14:creationId xmlns:p14="http://schemas.microsoft.com/office/powerpoint/2010/main" val="12692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F3968D4-79DA-D4E3-B554-32CFD19E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0" y="824934"/>
            <a:ext cx="3273099" cy="1091166"/>
          </a:xfrm>
        </p:spPr>
        <p:txBody>
          <a:bodyPr>
            <a:normAutofit/>
          </a:bodyPr>
          <a:lstStyle/>
          <a:p>
            <a:r>
              <a:rPr lang="ko-KR" altLang="en-US" sz="6600" dirty="0"/>
              <a:t>개요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6147D142-4D2A-5CC9-98FA-21BDBE9DA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70" y="2305442"/>
            <a:ext cx="4135633" cy="2315954"/>
          </a:xfrm>
        </p:spPr>
      </p:pic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CD9B39E7-275C-41B2-5CCE-819341168B5C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951931039"/>
              </p:ext>
            </p:extLst>
          </p:nvPr>
        </p:nvGraphicFramePr>
        <p:xfrm>
          <a:off x="6442838" y="652463"/>
          <a:ext cx="5181600" cy="5394137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994338">
                  <a:extLst>
                    <a:ext uri="{9D8B030D-6E8A-4147-A177-3AD203B41FA5}">
                      <a16:colId xmlns:a16="http://schemas.microsoft.com/office/drawing/2014/main" val="3665024709"/>
                    </a:ext>
                  </a:extLst>
                </a:gridCol>
                <a:gridCol w="3187262">
                  <a:extLst>
                    <a:ext uri="{9D8B030D-6E8A-4147-A177-3AD203B41FA5}">
                      <a16:colId xmlns:a16="http://schemas.microsoft.com/office/drawing/2014/main" val="4236594128"/>
                    </a:ext>
                  </a:extLst>
                </a:gridCol>
              </a:tblGrid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WORMS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999669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게임 장르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/>
                        <a:t>전략 슈팅 게임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90128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개발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Windows 10 -64bit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982047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개발 도구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Visual Studio 2022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636935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개발 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C++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Window API, FMOD, STL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504398"/>
                  </a:ext>
                </a:extLst>
              </a:tr>
              <a:tr h="770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개발 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0" dirty="0"/>
                        <a:t>2023-11-25 ~ 2023-12-08</a:t>
                      </a:r>
                      <a:endParaRPr lang="ko-KR" alt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144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85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94427-DE92-5657-BFDD-78A0913CD3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98179" y="570707"/>
            <a:ext cx="2617788" cy="1058862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게임 설명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3DE0A11-AF6F-C46A-56B7-F914EF06CED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60" y="1629569"/>
            <a:ext cx="4035425" cy="3894137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9D03A-BFD7-E222-8D59-B8F04C9D542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776952" y="852884"/>
            <a:ext cx="7525407" cy="5152231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400" dirty="0"/>
              <a:t>각 </a:t>
            </a:r>
            <a:r>
              <a:rPr lang="en-US" altLang="ko-KR" sz="2400" dirty="0"/>
              <a:t>worm </a:t>
            </a:r>
            <a:r>
              <a:rPr lang="ko-KR" altLang="en-US" sz="2400" dirty="0"/>
              <a:t>들을 </a:t>
            </a:r>
            <a:r>
              <a:rPr lang="en-US" altLang="ko-KR" sz="2400" dirty="0"/>
              <a:t>Land</a:t>
            </a:r>
            <a:r>
              <a:rPr lang="ko-KR" altLang="en-US" sz="2400" dirty="0"/>
              <a:t>에 배치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여러 가지 무기를 이용하여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/>
              <a:t>먼저 적들을 섬멸하는 쪽의 승리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땅은 파괴 가능하며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Land </a:t>
            </a:r>
            <a:r>
              <a:rPr lang="ko-KR" altLang="en-US" sz="2400" dirty="0"/>
              <a:t>밖으로 떨어질 경우 사망함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각 차례마다 정해진 시간이 주어지며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/>
              <a:t>시간 안에는 자유롭게 행동 가능</a:t>
            </a:r>
            <a:r>
              <a:rPr lang="en-US" altLang="ko-KR" sz="2400" dirty="0"/>
              <a:t>.</a:t>
            </a:r>
            <a:br>
              <a:rPr lang="en-US" altLang="ko-KR" sz="2400" dirty="0"/>
            </a:br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무기는 </a:t>
            </a:r>
            <a:r>
              <a:rPr lang="en-US" altLang="ko-KR" sz="2400" dirty="0"/>
              <a:t>1</a:t>
            </a:r>
            <a:r>
              <a:rPr lang="ko-KR" altLang="en-US" sz="2400" dirty="0"/>
              <a:t>회만 사용 가능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숫자 키로 무기를 장비할 수 있으며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dirty="0"/>
              <a:t>동일 키 입력 시 이동 </a:t>
            </a:r>
            <a:r>
              <a:rPr lang="en-US" altLang="ko-KR" sz="2400" dirty="0"/>
              <a:t>mode</a:t>
            </a:r>
            <a:r>
              <a:rPr lang="ko-KR" altLang="en-US" sz="2400" dirty="0"/>
              <a:t>로 전환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방향키를 이용하지만</a:t>
            </a:r>
            <a:r>
              <a:rPr lang="en-US" altLang="ko-KR" sz="2400" dirty="0"/>
              <a:t>, mode</a:t>
            </a:r>
            <a:r>
              <a:rPr lang="ko-KR" altLang="en-US" sz="2400" dirty="0"/>
              <a:t> 별 용도 상이함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마우스 </a:t>
            </a:r>
            <a:r>
              <a:rPr lang="ko-KR" altLang="en-US" sz="2400" dirty="0" err="1"/>
              <a:t>우클릭</a:t>
            </a:r>
            <a:r>
              <a:rPr lang="ko-KR" altLang="en-US" sz="2400" dirty="0"/>
              <a:t> </a:t>
            </a:r>
            <a:r>
              <a:rPr lang="en-US" altLang="ko-KR" sz="2400" dirty="0"/>
              <a:t>+ </a:t>
            </a:r>
            <a:r>
              <a:rPr lang="en-US" altLang="ko-KR" sz="2400" dirty="0" err="1"/>
              <a:t>wasd</a:t>
            </a:r>
            <a:r>
              <a:rPr lang="ko-KR" altLang="en-US" sz="2400" dirty="0"/>
              <a:t>로 자유 카메라 이용 가능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545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</a:t>
            </a:r>
            <a:r>
              <a:rPr lang="ko-KR" altLang="en-US" dirty="0"/>
              <a:t>카메라 </a:t>
            </a:r>
            <a:r>
              <a:rPr lang="en-US" altLang="ko-KR" dirty="0"/>
              <a:t>: </a:t>
            </a:r>
            <a:r>
              <a:rPr lang="ko-KR" altLang="en-US" dirty="0"/>
              <a:t>상황에 따른 지정 카메라 제어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8414"/>
          <a:stretch/>
        </p:blipFill>
        <p:spPr>
          <a:xfrm>
            <a:off x="5988301" y="1352841"/>
            <a:ext cx="5628026" cy="2776127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sz="half" idx="4294967295"/>
          </p:nvPr>
        </p:nvSpPr>
        <p:spPr>
          <a:xfrm>
            <a:off x="851338" y="4193949"/>
            <a:ext cx="4718050" cy="1023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마우스 </a:t>
            </a:r>
            <a:r>
              <a:rPr lang="ko-KR" altLang="en-US" sz="1800" dirty="0" err="1"/>
              <a:t>우클릭</a:t>
            </a:r>
            <a:r>
              <a:rPr lang="en-US" altLang="ko-KR" sz="1800" dirty="0"/>
              <a:t>(Press)</a:t>
            </a:r>
            <a:r>
              <a:rPr lang="ko-KR" altLang="en-US" sz="1800" dirty="0"/>
              <a:t> </a:t>
            </a:r>
            <a:r>
              <a:rPr lang="en-US" altLang="ko-KR" sz="1800" dirty="0"/>
              <a:t>: Free Mode</a:t>
            </a:r>
          </a:p>
          <a:p>
            <a:pPr marL="0" indent="0">
              <a:buNone/>
            </a:pPr>
            <a:r>
              <a:rPr lang="en-US" altLang="ko-KR" sz="1800" dirty="0"/>
              <a:t>Default : Follow Mode</a:t>
            </a:r>
            <a:endParaRPr lang="ko-KR" altLang="en-US" sz="1400" dirty="0"/>
          </a:p>
        </p:txBody>
      </p:sp>
      <p:sp>
        <p:nvSpPr>
          <p:cNvPr id="9" name="내용 개체 틀 2"/>
          <p:cNvSpPr>
            <a:spLocks noGrp="1"/>
          </p:cNvSpPr>
          <p:nvPr>
            <p:ph sz="half" idx="4294967295"/>
          </p:nvPr>
        </p:nvSpPr>
        <p:spPr>
          <a:xfrm>
            <a:off x="265915" y="1209244"/>
            <a:ext cx="4842113" cy="2919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en-US" altLang="ko-KR" sz="1800" dirty="0" err="1"/>
              <a:t>FreeMode</a:t>
            </a:r>
            <a:r>
              <a:rPr lang="ko-KR" altLang="en-US" sz="1800" dirty="0"/>
              <a:t>일 경우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en-US" altLang="ko-KR" sz="1800" dirty="0"/>
              <a:t>target</a:t>
            </a:r>
            <a:r>
              <a:rPr lang="ko-KR" altLang="en-US" sz="1800" dirty="0"/>
              <a:t>의 위치를 중앙으로 </a:t>
            </a:r>
            <a:r>
              <a:rPr lang="en-US" altLang="ko-KR" sz="1800" dirty="0"/>
              <a:t>Camera </a:t>
            </a:r>
            <a:r>
              <a:rPr lang="ko-KR" altLang="en-US" sz="1800" dirty="0"/>
              <a:t>객체 위에 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존재하는 모든</a:t>
            </a:r>
            <a:r>
              <a:rPr lang="en-US" altLang="ko-KR" sz="1800" dirty="0"/>
              <a:t> Pixel</a:t>
            </a:r>
            <a:r>
              <a:rPr lang="ko-KR" altLang="en-US" sz="1800" dirty="0"/>
              <a:t>들을 </a:t>
            </a:r>
            <a:r>
              <a:rPr lang="en-US" altLang="ko-KR" sz="1800" dirty="0"/>
              <a:t>render.</a:t>
            </a:r>
          </a:p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en-US" altLang="ko-KR" sz="1800" dirty="0" err="1"/>
              <a:t>FollowMode</a:t>
            </a:r>
            <a:r>
              <a:rPr lang="ko-KR" altLang="en-US" sz="1800" dirty="0"/>
              <a:t>일 경우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en-US" altLang="ko-KR" sz="1800" dirty="0"/>
              <a:t>target</a:t>
            </a:r>
            <a:r>
              <a:rPr lang="ko-KR" altLang="en-US" sz="1800" dirty="0"/>
              <a:t>과 상관 없이 </a:t>
            </a:r>
            <a:r>
              <a:rPr lang="en-US" altLang="ko-KR" sz="1800" dirty="0"/>
              <a:t>Camera </a:t>
            </a:r>
            <a:r>
              <a:rPr lang="ko-KR" altLang="en-US" sz="1800" dirty="0"/>
              <a:t>객체 위에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존재하는 모든 </a:t>
            </a:r>
            <a:r>
              <a:rPr lang="en-US" altLang="ko-KR" sz="1800" dirty="0"/>
              <a:t>Pixel</a:t>
            </a:r>
            <a:r>
              <a:rPr lang="ko-KR" altLang="en-US" sz="1800" dirty="0"/>
              <a:t>들을 </a:t>
            </a:r>
            <a:r>
              <a:rPr lang="en-US" altLang="ko-KR" sz="1800" dirty="0"/>
              <a:t> render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0170" cy="7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926" y="1122945"/>
            <a:ext cx="6615812" cy="422753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</a:t>
            </a:r>
            <a:r>
              <a:rPr lang="ko-KR" altLang="en-US" dirty="0"/>
              <a:t>카메라 </a:t>
            </a:r>
            <a:r>
              <a:rPr lang="en-US" altLang="ko-KR" dirty="0"/>
              <a:t>: </a:t>
            </a:r>
            <a:r>
              <a:rPr lang="ko-KR" altLang="en-US" dirty="0"/>
              <a:t>지정 카메라와 자유 카메라 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3" y="1122945"/>
            <a:ext cx="4638000" cy="3220233"/>
          </a:xfrm>
          <a:prstGeom prst="rect">
            <a:avLst/>
          </a:prstGeom>
        </p:spPr>
      </p:pic>
      <p:sp>
        <p:nvSpPr>
          <p:cNvPr id="12" name="설명선 2 11"/>
          <p:cNvSpPr/>
          <p:nvPr/>
        </p:nvSpPr>
        <p:spPr>
          <a:xfrm>
            <a:off x="403047" y="2404280"/>
            <a:ext cx="2399027" cy="296863"/>
          </a:xfrm>
          <a:prstGeom prst="borderCallout2">
            <a:avLst>
              <a:gd name="adj1" fmla="val 47921"/>
              <a:gd name="adj2" fmla="val 99931"/>
              <a:gd name="adj3" fmla="val 258244"/>
              <a:gd name="adj4" fmla="val 112015"/>
              <a:gd name="adj5" fmla="val 396750"/>
              <a:gd name="adj6" fmla="val 10579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 : </a:t>
            </a:r>
            <a:r>
              <a:rPr lang="en-US" altLang="ko-KR" dirty="0" err="1">
                <a:solidFill>
                  <a:schemeClr val="tx1"/>
                </a:solidFill>
              </a:rPr>
              <a:t>GameObject</a:t>
            </a:r>
            <a:r>
              <a:rPr lang="en-US" altLang="ko-KR" dirty="0">
                <a:solidFill>
                  <a:schemeClr val="tx1"/>
                </a:solidFill>
              </a:rPr>
              <a:t>*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0170" cy="794131"/>
          </a:xfrm>
          <a:prstGeom prst="rect">
            <a:avLst/>
          </a:prstGeom>
          <a:solidFill>
            <a:srgbClr val="DFDBD5"/>
          </a:solidFill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0C905-A649-2FBB-8925-6E97D60F9BC1}"/>
              </a:ext>
            </a:extLst>
          </p:cNvPr>
          <p:cNvSpPr txBox="1">
            <a:spLocks/>
          </p:cNvSpPr>
          <p:nvPr/>
        </p:nvSpPr>
        <p:spPr>
          <a:xfrm>
            <a:off x="411559" y="4482993"/>
            <a:ext cx="4718050" cy="1681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dirty="0"/>
              <a:t>Target</a:t>
            </a:r>
            <a:r>
              <a:rPr lang="ko-KR" altLang="en-US" sz="1800" dirty="0"/>
              <a:t>에 고정되어 자동으로 시점 이동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17527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</a:t>
            </a:r>
            <a:r>
              <a:rPr lang="ko-KR" altLang="en-US" dirty="0"/>
              <a:t>카메라 </a:t>
            </a:r>
            <a:r>
              <a:rPr lang="en-US" altLang="ko-KR" dirty="0"/>
              <a:t>: </a:t>
            </a:r>
            <a:r>
              <a:rPr lang="ko-KR" altLang="en-US" dirty="0"/>
              <a:t>카메라 화면 제어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622" y="1055387"/>
            <a:ext cx="6321819" cy="467814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t="764"/>
          <a:stretch/>
        </p:blipFill>
        <p:spPr>
          <a:xfrm>
            <a:off x="457848" y="1055387"/>
            <a:ext cx="4608424" cy="3186351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sz="half" idx="4294967295"/>
          </p:nvPr>
        </p:nvSpPr>
        <p:spPr>
          <a:xfrm>
            <a:off x="411559" y="4372631"/>
            <a:ext cx="4718050" cy="1681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800" dirty="0"/>
              <a:t>Target</a:t>
            </a:r>
            <a:r>
              <a:rPr lang="ko-KR" altLang="en-US" sz="1800" dirty="0"/>
              <a:t>에 상관 없이 자유로운 시점 이동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배경 이미지의 바깥으로는 </a:t>
            </a:r>
            <a:r>
              <a:rPr lang="en-US" altLang="ko-KR" sz="1800" dirty="0"/>
              <a:t>Camera </a:t>
            </a:r>
            <a:r>
              <a:rPr lang="ko-KR" altLang="en-US" sz="1800" dirty="0"/>
              <a:t>객체가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나가지 못하는 모습</a:t>
            </a:r>
            <a:endParaRPr lang="ko-KR" altLang="en-US" sz="14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0170" cy="7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B5CCE9-D34E-29DD-1A78-A35A324E4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77" y="898786"/>
            <a:ext cx="7027425" cy="146628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Worm </a:t>
            </a:r>
            <a:r>
              <a:rPr lang="ko-KR" altLang="en-US" dirty="0"/>
              <a:t>속성 </a:t>
            </a:r>
            <a:r>
              <a:rPr lang="en-US" altLang="ko-KR" dirty="0"/>
              <a:t>– </a:t>
            </a:r>
            <a:r>
              <a:rPr lang="ko-KR" altLang="en-US" dirty="0"/>
              <a:t>상황에 따른 </a:t>
            </a:r>
            <a:r>
              <a:rPr lang="en-US" altLang="ko-KR" dirty="0"/>
              <a:t>image Rendering</a:t>
            </a:r>
            <a:endParaRPr lang="ko-KR" altLang="en-US" dirty="0"/>
          </a:p>
        </p:txBody>
      </p:sp>
      <p:sp>
        <p:nvSpPr>
          <p:cNvPr id="8" name="설명선 2 7"/>
          <p:cNvSpPr/>
          <p:nvPr/>
        </p:nvSpPr>
        <p:spPr>
          <a:xfrm>
            <a:off x="148281" y="1335064"/>
            <a:ext cx="3593384" cy="296863"/>
          </a:xfrm>
          <a:prstGeom prst="borderCallout2">
            <a:avLst>
              <a:gd name="adj1" fmla="val 47921"/>
              <a:gd name="adj2" fmla="val 99931"/>
              <a:gd name="adj3" fmla="val 212456"/>
              <a:gd name="adj4" fmla="val 111548"/>
              <a:gd name="adj5" fmla="val 221926"/>
              <a:gd name="adj6" fmla="val 14724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std</a:t>
            </a:r>
            <a:r>
              <a:rPr lang="en-US" altLang="ko-KR" dirty="0">
                <a:solidFill>
                  <a:schemeClr val="tx1"/>
                </a:solidFill>
              </a:rPr>
              <a:t>::map&lt;State, </a:t>
            </a:r>
            <a:r>
              <a:rPr lang="en-US" altLang="ko-KR" dirty="0" err="1">
                <a:solidFill>
                  <a:schemeClr val="tx1"/>
                </a:solidFill>
              </a:rPr>
              <a:t>WormRender</a:t>
            </a:r>
            <a:r>
              <a:rPr lang="en-US" altLang="ko-KR" dirty="0">
                <a:solidFill>
                  <a:schemeClr val="tx1"/>
                </a:solidFill>
              </a:rPr>
              <a:t>*&gt;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설명선 2 9"/>
          <p:cNvSpPr/>
          <p:nvPr/>
        </p:nvSpPr>
        <p:spPr>
          <a:xfrm>
            <a:off x="289007" y="2505414"/>
            <a:ext cx="1802326" cy="296863"/>
          </a:xfrm>
          <a:prstGeom prst="borderCallout2">
            <a:avLst>
              <a:gd name="adj1" fmla="val -1023"/>
              <a:gd name="adj2" fmla="val 48117"/>
              <a:gd name="adj3" fmla="val -151541"/>
              <a:gd name="adj4" fmla="val 68979"/>
              <a:gd name="adj5" fmla="val -301105"/>
              <a:gd name="adj6" fmla="val 68894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State : </a:t>
            </a:r>
            <a:r>
              <a:rPr lang="en-US" altLang="ko-KR" dirty="0" err="1">
                <a:solidFill>
                  <a:schemeClr val="tx1"/>
                </a:solidFill>
              </a:rPr>
              <a:t>enum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F6140A-C837-41DB-DDCA-BAFBD164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487" y="2505414"/>
            <a:ext cx="6672804" cy="4239193"/>
          </a:xfrm>
          <a:prstGeom prst="rect">
            <a:avLst/>
          </a:prstGeom>
        </p:spPr>
      </p:pic>
      <p:cxnSp>
        <p:nvCxnSpPr>
          <p:cNvPr id="4" name="꺾인 연결선 3"/>
          <p:cNvCxnSpPr/>
          <p:nvPr/>
        </p:nvCxnSpPr>
        <p:spPr>
          <a:xfrm>
            <a:off x="2693772" y="1631927"/>
            <a:ext cx="1556952" cy="1053611"/>
          </a:xfrm>
          <a:prstGeom prst="bentConnector3">
            <a:avLst>
              <a:gd name="adj1" fmla="val 555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3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1162A94-1878-B536-AA2F-7DF75BB82588}"/>
              </a:ext>
            </a:extLst>
          </p:cNvPr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 </a:t>
            </a:r>
            <a:r>
              <a:rPr lang="en-US" altLang="ko-KR" dirty="0" err="1"/>
              <a:t>WormRender</a:t>
            </a:r>
            <a:r>
              <a:rPr lang="en-US" altLang="ko-KR" dirty="0"/>
              <a:t> </a:t>
            </a:r>
            <a:r>
              <a:rPr lang="ko-KR" altLang="en-US" dirty="0"/>
              <a:t>클래스 개요도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BA211B-D72B-79E2-4CC1-FCEF2FAB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1720"/>
            <a:ext cx="12192000" cy="423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1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 </a:t>
            </a:r>
            <a:r>
              <a:rPr lang="en-US" altLang="ko-KR" dirty="0" err="1"/>
              <a:t>WormRender</a:t>
            </a:r>
            <a:r>
              <a:rPr lang="en-US" altLang="ko-KR" dirty="0"/>
              <a:t> - </a:t>
            </a:r>
            <a:r>
              <a:rPr lang="en-US" altLang="ko-KR" dirty="0" err="1"/>
              <a:t>StartEvent</a:t>
            </a:r>
            <a:r>
              <a:rPr lang="en-US" altLang="ko-KR" dirty="0"/>
              <a:t>, </a:t>
            </a:r>
            <a:r>
              <a:rPr lang="en-US" altLang="ko-KR" dirty="0" err="1"/>
              <a:t>EndEvent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55A615-BB2E-E1AD-724F-C9224BD5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2866"/>
            <a:ext cx="7607143" cy="436513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B426456-1C76-3EC2-8DE4-B7319551EC62}"/>
              </a:ext>
            </a:extLst>
          </p:cNvPr>
          <p:cNvGrpSpPr/>
          <p:nvPr/>
        </p:nvGrpSpPr>
        <p:grpSpPr>
          <a:xfrm>
            <a:off x="1190170" y="756744"/>
            <a:ext cx="10959906" cy="2672255"/>
            <a:chOff x="812445" y="1625109"/>
            <a:chExt cx="10959906" cy="267225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4891" y="1625109"/>
              <a:ext cx="7497460" cy="2672255"/>
            </a:xfrm>
            <a:prstGeom prst="rect">
              <a:avLst/>
            </a:prstGeom>
          </p:spPr>
        </p:pic>
        <p:sp>
          <p:nvSpPr>
            <p:cNvPr id="13" name="설명선 2 12"/>
            <p:cNvSpPr/>
            <p:nvPr/>
          </p:nvSpPr>
          <p:spPr>
            <a:xfrm>
              <a:off x="812445" y="1958549"/>
              <a:ext cx="2665340" cy="296863"/>
            </a:xfrm>
            <a:prstGeom prst="borderCallout2">
              <a:avLst>
                <a:gd name="adj1" fmla="val 47921"/>
                <a:gd name="adj2" fmla="val 99931"/>
                <a:gd name="adj3" fmla="val 521195"/>
                <a:gd name="adj4" fmla="val 146390"/>
                <a:gd name="adj5" fmla="val 685824"/>
                <a:gd name="adj6" fmla="val 166533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std</a:t>
              </a:r>
              <a:r>
                <a:rPr lang="en-US" altLang="ko-KR" dirty="0">
                  <a:solidFill>
                    <a:schemeClr val="tx1"/>
                  </a:solidFill>
                </a:rPr>
                <a:t>::function&lt;void()&gt;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59970E4-B41B-EFAF-D65B-45A270F73ADA}"/>
              </a:ext>
            </a:extLst>
          </p:cNvPr>
          <p:cNvSpPr txBox="1">
            <a:spLocks/>
          </p:cNvSpPr>
          <p:nvPr/>
        </p:nvSpPr>
        <p:spPr>
          <a:xfrm>
            <a:off x="7517423" y="3651534"/>
            <a:ext cx="4632653" cy="2391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1. </a:t>
            </a:r>
            <a:r>
              <a:rPr lang="ko-KR" altLang="en-US" sz="1400" dirty="0"/>
              <a:t>한 </a:t>
            </a:r>
            <a:r>
              <a:rPr lang="en-US" altLang="ko-KR" sz="1400" dirty="0"/>
              <a:t>Worm</a:t>
            </a:r>
            <a:r>
              <a:rPr lang="ko-KR" altLang="en-US" sz="1400" dirty="0"/>
              <a:t>의 각 행동 상태는 객체 상태로 존재하게 된다</a:t>
            </a:r>
            <a:r>
              <a:rPr lang="en-US" altLang="ko-KR" sz="14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2. </a:t>
            </a:r>
            <a:r>
              <a:rPr lang="ko-KR" altLang="en-US" sz="1400" dirty="0"/>
              <a:t>각 행동 객체에 시작과 끝에 </a:t>
            </a:r>
            <a:r>
              <a:rPr lang="en-US" altLang="ko-KR" sz="1400" dirty="0"/>
              <a:t>Worm</a:t>
            </a:r>
            <a:r>
              <a:rPr lang="ko-KR" altLang="en-US" sz="1400" dirty="0"/>
              <a:t>의 상태들을 바꿔 줄 함수를 지정한다</a:t>
            </a:r>
            <a:r>
              <a:rPr lang="en-US" altLang="ko-KR" sz="14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해당 함수는 </a:t>
            </a:r>
            <a:r>
              <a:rPr lang="en-US" altLang="ko-KR" sz="1400" dirty="0"/>
              <a:t>Worm</a:t>
            </a:r>
            <a:r>
              <a:rPr lang="ko-KR" altLang="en-US" sz="1400" dirty="0"/>
              <a:t>의 속도</a:t>
            </a:r>
            <a:r>
              <a:rPr lang="en-US" altLang="ko-KR" sz="1400" dirty="0"/>
              <a:t>, Image Sprite, </a:t>
            </a:r>
            <a:r>
              <a:rPr lang="ko-KR" altLang="en-US" sz="1400" dirty="0"/>
              <a:t>생존 여부등을 결정해 준다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047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Aiming Weapon </a:t>
            </a:r>
            <a:r>
              <a:rPr lang="ko-KR" altLang="en-US" dirty="0"/>
              <a:t>기능 </a:t>
            </a:r>
            <a:r>
              <a:rPr lang="en-US" altLang="ko-KR" dirty="0"/>
              <a:t>– Timer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Aim </a:t>
            </a:r>
            <a:r>
              <a:rPr lang="ko-KR" altLang="en-US" dirty="0"/>
              <a:t>속도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0170" cy="1117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310" y="792327"/>
            <a:ext cx="7515225" cy="5648325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D9097F2-C023-5E88-3AA2-6F9E6020EE5F}"/>
              </a:ext>
            </a:extLst>
          </p:cNvPr>
          <p:cNvSpPr txBox="1">
            <a:spLocks/>
          </p:cNvSpPr>
          <p:nvPr/>
        </p:nvSpPr>
        <p:spPr>
          <a:xfrm>
            <a:off x="8798535" y="1620511"/>
            <a:ext cx="3258401" cy="2391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좀 더 세밀한 조정을 위해 </a:t>
            </a:r>
            <a:r>
              <a:rPr lang="en-US" altLang="ko-KR" sz="1400" dirty="0" err="1"/>
              <a:t>KeyDown</a:t>
            </a:r>
            <a:r>
              <a:rPr lang="ko-KR" altLang="en-US" sz="1400" dirty="0"/>
              <a:t>을 유지할 때 더욱 빠르게 조정하게 해주었다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004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14764"/>
          <a:stretch/>
        </p:blipFill>
        <p:spPr>
          <a:xfrm>
            <a:off x="6332900" y="1397325"/>
            <a:ext cx="5183597" cy="435436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645969" y="3153541"/>
            <a:ext cx="5181600" cy="3051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800" dirty="0"/>
              <a:t>angle</a:t>
            </a:r>
            <a:r>
              <a:rPr lang="ko-KR" altLang="en-US" sz="1800" dirty="0"/>
              <a:t>은 방향키 </a:t>
            </a:r>
            <a:r>
              <a:rPr lang="ko-KR" altLang="en-US" sz="1800" dirty="0" err="1"/>
              <a:t>윗키와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아래키로</a:t>
            </a:r>
            <a:r>
              <a:rPr lang="ko-KR" altLang="en-US" sz="1800" dirty="0"/>
              <a:t> 조절 가능하다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초기값은 오른쪽일 때 </a:t>
            </a:r>
            <a:r>
              <a:rPr lang="en-US" altLang="ko-KR" sz="1800" dirty="0"/>
              <a:t>0.0(radian),</a:t>
            </a:r>
          </a:p>
          <a:p>
            <a:pPr marL="0" indent="0">
              <a:buNone/>
            </a:pPr>
            <a:r>
              <a:rPr lang="ko-KR" altLang="en-US" sz="1800" dirty="0"/>
              <a:t>왼쪽일 때 </a:t>
            </a:r>
            <a:r>
              <a:rPr lang="en-US" altLang="ko-KR" sz="1800" dirty="0"/>
              <a:t>3.14(radian)</a:t>
            </a:r>
            <a:r>
              <a:rPr lang="ko-KR" altLang="en-US" sz="1800" dirty="0"/>
              <a:t> 이다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angle</a:t>
            </a:r>
            <a:r>
              <a:rPr lang="ko-KR" altLang="en-US" sz="1800" dirty="0"/>
              <a:t>이 한계점에 도달하면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sprite</a:t>
            </a:r>
            <a:r>
              <a:rPr lang="ko-KR" altLang="en-US" sz="1800" dirty="0"/>
              <a:t>의 </a:t>
            </a:r>
            <a:r>
              <a:rPr lang="en-US" altLang="ko-KR" sz="1800" dirty="0"/>
              <a:t>frame</a:t>
            </a:r>
            <a:r>
              <a:rPr lang="ko-KR" altLang="en-US" sz="1800" dirty="0"/>
              <a:t>을 고정시킨다</a:t>
            </a:r>
            <a:r>
              <a:rPr lang="en-US" altLang="ko-KR" sz="1800" dirty="0"/>
              <a:t>.</a:t>
            </a:r>
          </a:p>
          <a:p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Aiming Weapon </a:t>
            </a:r>
            <a:r>
              <a:rPr lang="ko-KR" altLang="en-US" dirty="0"/>
              <a:t>기능 </a:t>
            </a:r>
            <a:r>
              <a:rPr lang="en-US" altLang="ko-KR" dirty="0"/>
              <a:t>– Virtual Keyboard : </a:t>
            </a:r>
            <a:r>
              <a:rPr lang="ko-KR" altLang="en-US" dirty="0"/>
              <a:t>방향키를 이용한 각도 조절 및 그림 바꾸기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03" y="1550502"/>
            <a:ext cx="1984083" cy="1407512"/>
          </a:xfrm>
          <a:prstGeom prst="rect">
            <a:avLst/>
          </a:prstGeom>
        </p:spPr>
      </p:pic>
      <p:sp>
        <p:nvSpPr>
          <p:cNvPr id="12" name="설명선 2 11"/>
          <p:cNvSpPr/>
          <p:nvPr/>
        </p:nvSpPr>
        <p:spPr>
          <a:xfrm>
            <a:off x="3079781" y="2154189"/>
            <a:ext cx="1507523" cy="296863"/>
          </a:xfrm>
          <a:prstGeom prst="borderCallout2">
            <a:avLst>
              <a:gd name="adj1" fmla="val 52083"/>
              <a:gd name="adj2" fmla="val -69"/>
              <a:gd name="adj3" fmla="val 50122"/>
              <a:gd name="adj4" fmla="val -17493"/>
              <a:gd name="adj5" fmla="val 92892"/>
              <a:gd name="adj6" fmla="val -45841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angle : float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DE4FD8-FF25-C437-2FFA-6E32A7A19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9017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7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4294967295"/>
          </p:nvPr>
        </p:nvSpPr>
        <p:spPr>
          <a:xfrm>
            <a:off x="538162" y="3118226"/>
            <a:ext cx="4545013" cy="3103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800" dirty="0"/>
              <a:t>power</a:t>
            </a:r>
            <a:r>
              <a:rPr lang="ko-KR" altLang="en-US" sz="1800" dirty="0"/>
              <a:t>는 </a:t>
            </a:r>
            <a:r>
              <a:rPr lang="ko-KR" altLang="en-US" sz="1800" dirty="0" err="1"/>
              <a:t>스페이스바로</a:t>
            </a:r>
            <a:r>
              <a:rPr lang="ko-KR" altLang="en-US" sz="1800" dirty="0"/>
              <a:t> 조절 가능하며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ko-KR" altLang="en-US" sz="1800" dirty="0"/>
              <a:t>최소값</a:t>
            </a:r>
            <a:r>
              <a:rPr lang="en-US" altLang="ko-KR" sz="1800" dirty="0"/>
              <a:t>(</a:t>
            </a:r>
            <a:r>
              <a:rPr lang="ko-KR" altLang="en-US" sz="1800" dirty="0"/>
              <a:t>초기값</a:t>
            </a:r>
            <a:r>
              <a:rPr lang="en-US" altLang="ko-KR" sz="1800" dirty="0"/>
              <a:t>)</a:t>
            </a:r>
            <a:r>
              <a:rPr lang="ko-KR" altLang="en-US" sz="1800" dirty="0"/>
              <a:t>은 </a:t>
            </a:r>
            <a:r>
              <a:rPr lang="en-US" altLang="ko-KR" sz="1800" dirty="0"/>
              <a:t>0.1, </a:t>
            </a:r>
            <a:r>
              <a:rPr lang="ko-KR" altLang="en-US" sz="1800" dirty="0"/>
              <a:t>최대값은 </a:t>
            </a:r>
            <a:r>
              <a:rPr lang="en-US" altLang="ko-KR" sz="1800" dirty="0"/>
              <a:t>1.0</a:t>
            </a:r>
            <a:r>
              <a:rPr lang="ko-KR" altLang="en-US" sz="1800" dirty="0"/>
              <a:t> 이다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각 최소</a:t>
            </a:r>
            <a:r>
              <a:rPr lang="en-US" altLang="ko-KR" sz="1800" dirty="0"/>
              <a:t>, </a:t>
            </a:r>
            <a:r>
              <a:rPr lang="ko-KR" altLang="en-US" sz="1800" dirty="0"/>
              <a:t>최대값에 도달 시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증감 상태가 변한다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 err="1"/>
              <a:t>스페이스바를</a:t>
            </a:r>
            <a:r>
              <a:rPr lang="ko-KR" altLang="en-US" sz="1800" dirty="0"/>
              <a:t> 떼면</a:t>
            </a:r>
            <a:r>
              <a:rPr lang="en-US" altLang="ko-KR" sz="1800" dirty="0"/>
              <a:t>(Key Up) </a:t>
            </a:r>
            <a:r>
              <a:rPr lang="ko-KR" altLang="en-US" sz="1800" dirty="0"/>
              <a:t>총알을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발사한다</a:t>
            </a:r>
            <a:r>
              <a:rPr lang="en-US" altLang="ko-KR" sz="1800" dirty="0"/>
              <a:t>.</a:t>
            </a:r>
          </a:p>
          <a:p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Aiming Weapon </a:t>
            </a:r>
            <a:r>
              <a:rPr lang="ko-KR" altLang="en-US" dirty="0"/>
              <a:t>기능 </a:t>
            </a:r>
            <a:r>
              <a:rPr lang="en-US" altLang="ko-KR" dirty="0"/>
              <a:t>– Virtual Keyboard : </a:t>
            </a:r>
            <a:r>
              <a:rPr lang="ko-KR" altLang="en-US" dirty="0" err="1"/>
              <a:t>스페이스바를</a:t>
            </a:r>
            <a:r>
              <a:rPr lang="ko-KR" altLang="en-US" dirty="0"/>
              <a:t> 이용한 파워 조절 및 총알 발사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40" y="1235677"/>
            <a:ext cx="6816965" cy="465901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9" y="1518971"/>
            <a:ext cx="1984083" cy="1407512"/>
          </a:xfrm>
          <a:prstGeom prst="rect">
            <a:avLst/>
          </a:prstGeom>
        </p:spPr>
      </p:pic>
      <p:sp>
        <p:nvSpPr>
          <p:cNvPr id="10" name="설명선 2 9"/>
          <p:cNvSpPr/>
          <p:nvPr/>
        </p:nvSpPr>
        <p:spPr>
          <a:xfrm>
            <a:off x="3021557" y="2382154"/>
            <a:ext cx="1507523" cy="296863"/>
          </a:xfrm>
          <a:prstGeom prst="borderCallout2">
            <a:avLst>
              <a:gd name="adj1" fmla="val 52083"/>
              <a:gd name="adj2" fmla="val -69"/>
              <a:gd name="adj3" fmla="val 50122"/>
              <a:gd name="adj4" fmla="val -17493"/>
              <a:gd name="adj5" fmla="val 92892"/>
              <a:gd name="adj6" fmla="val -45841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power : float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70192D-EBF9-6352-5762-0A55EAE43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9017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0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</a:t>
            </a:r>
            <a:r>
              <a:rPr lang="ko-KR" altLang="en-US" dirty="0"/>
              <a:t>기능 </a:t>
            </a:r>
            <a:r>
              <a:rPr lang="en-US" altLang="ko-KR" dirty="0"/>
              <a:t>– </a:t>
            </a:r>
            <a:r>
              <a:rPr lang="ko-KR" altLang="en-US" dirty="0" err="1"/>
              <a:t>발사체</a:t>
            </a:r>
            <a:r>
              <a:rPr lang="ko-KR" altLang="en-US" dirty="0"/>
              <a:t> 이동</a:t>
            </a:r>
          </a:p>
        </p:txBody>
      </p:sp>
    </p:spTree>
    <p:extLst>
      <p:ext uri="{BB962C8B-B14F-4D97-AF65-F5344CB8AC3E}">
        <p14:creationId xmlns:p14="http://schemas.microsoft.com/office/powerpoint/2010/main" val="1695788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4. Worms Manager </a:t>
            </a:r>
            <a:r>
              <a:rPr lang="ko-KR" altLang="en-US" dirty="0"/>
              <a:t>기능 </a:t>
            </a:r>
            <a:r>
              <a:rPr lang="en-US" altLang="ko-KR" dirty="0"/>
              <a:t>– Timer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Round </a:t>
            </a:r>
            <a:r>
              <a:rPr lang="ko-KR" altLang="en-US" dirty="0"/>
              <a:t>시간 제어</a:t>
            </a:r>
          </a:p>
        </p:txBody>
      </p:sp>
    </p:spTree>
    <p:extLst>
      <p:ext uri="{BB962C8B-B14F-4D97-AF65-F5344CB8AC3E}">
        <p14:creationId xmlns:p14="http://schemas.microsoft.com/office/powerpoint/2010/main" val="3845729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190170" y="0"/>
            <a:ext cx="11001829" cy="638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5. </a:t>
            </a:r>
            <a:r>
              <a:rPr lang="ko-KR" altLang="en-US" dirty="0"/>
              <a:t>후기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190169" y="1049463"/>
            <a:ext cx="96343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Worm의 Action을 컨테이너에 담는 것이 아닌, 객체 단위로 나누었는데,</a:t>
            </a:r>
            <a:br>
              <a:rPr lang="en-US" altLang="ko-KR" dirty="0"/>
            </a:br>
            <a:r>
              <a:rPr lang="ko-KR" altLang="en-US" dirty="0"/>
              <a:t>이렇게 설계하였을 때 Worm 자체의 status 변화에 애로사항이 생겼다.</a:t>
            </a:r>
            <a:br>
              <a:rPr lang="en-US" altLang="ko-KR" dirty="0"/>
            </a:br>
            <a:r>
              <a:rPr lang="en-US" altLang="ko-KR" dirty="0"/>
              <a:t>-</a:t>
            </a:r>
            <a:br>
              <a:rPr lang="en-US" altLang="ko-KR" dirty="0"/>
            </a:br>
            <a:r>
              <a:rPr lang="ko-KR" altLang="en-US" dirty="0"/>
              <a:t>이를 해결하기 위해 함수 포인터를 이용하여 각 </a:t>
            </a:r>
            <a:r>
              <a:rPr lang="en-US" altLang="ko-KR" dirty="0"/>
              <a:t>Action Object</a:t>
            </a:r>
            <a:r>
              <a:rPr lang="ko-KR" altLang="en-US" dirty="0"/>
              <a:t>가 실행될 때</a:t>
            </a:r>
            <a:br>
              <a:rPr lang="en-US" altLang="ko-KR" dirty="0"/>
            </a:br>
            <a:r>
              <a:rPr lang="en-US" altLang="ko-KR" dirty="0"/>
              <a:t>Worm</a:t>
            </a:r>
            <a:r>
              <a:rPr lang="ko-KR" altLang="en-US" dirty="0"/>
              <a:t>의 </a:t>
            </a:r>
            <a:r>
              <a:rPr lang="en-US" altLang="ko-KR" dirty="0"/>
              <a:t>status</a:t>
            </a:r>
            <a:r>
              <a:rPr lang="ko-KR" altLang="en-US" dirty="0"/>
              <a:t>를 바꾸는 함수를 지정해주어 행동 객체는 </a:t>
            </a:r>
            <a:r>
              <a:rPr lang="en-US" altLang="ko-KR" dirty="0"/>
              <a:t>Render</a:t>
            </a:r>
            <a:r>
              <a:rPr lang="ko-KR" altLang="en-US" dirty="0"/>
              <a:t>를 위한 객체로 남기면서</a:t>
            </a:r>
            <a:br>
              <a:rPr lang="en-US" altLang="ko-KR" dirty="0"/>
            </a:br>
            <a:r>
              <a:rPr lang="en-US" altLang="ko-KR" dirty="0"/>
              <a:t>Worm</a:t>
            </a:r>
            <a:r>
              <a:rPr lang="ko-KR" altLang="en-US" dirty="0"/>
              <a:t>의 </a:t>
            </a:r>
            <a:r>
              <a:rPr lang="en-US" altLang="ko-KR" dirty="0"/>
              <a:t>status</a:t>
            </a:r>
            <a:r>
              <a:rPr lang="ko-KR" altLang="en-US" dirty="0"/>
              <a:t>를 바꿀 수 있었다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중력이 적용되는 순간 </a:t>
            </a:r>
            <a:r>
              <a:rPr lang="en-US" altLang="ko-KR" dirty="0"/>
              <a:t>Worm</a:t>
            </a:r>
            <a:r>
              <a:rPr lang="ko-KR" altLang="en-US" dirty="0"/>
              <a:t>의 행동을 제어해야 하다 보니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slop(</a:t>
            </a:r>
            <a:r>
              <a:rPr lang="ko-KR" altLang="en-US" dirty="0"/>
              <a:t>한글로</a:t>
            </a:r>
            <a:r>
              <a:rPr lang="en-US" altLang="ko-KR" dirty="0"/>
              <a:t>)</a:t>
            </a:r>
            <a:r>
              <a:rPr lang="ko-KR" altLang="en-US" dirty="0"/>
              <a:t>가 존재하는 곳에서 </a:t>
            </a:r>
            <a:r>
              <a:rPr lang="en-US" altLang="ko-KR" dirty="0"/>
              <a:t>Fly </a:t>
            </a:r>
            <a:r>
              <a:rPr lang="ko-KR" altLang="en-US" dirty="0"/>
              <a:t>행동이 호출되는 것을 막아야 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</a:t>
            </a:r>
            <a:br>
              <a:rPr lang="en-US" altLang="ko-KR" dirty="0"/>
            </a:br>
            <a:r>
              <a:rPr lang="ko-KR" altLang="en-US" dirty="0"/>
              <a:t>이를 해결하기 위해 </a:t>
            </a:r>
            <a:r>
              <a:rPr lang="en-US" altLang="ko-KR" dirty="0"/>
              <a:t>Land</a:t>
            </a:r>
            <a:r>
              <a:rPr lang="ko-KR" altLang="en-US" dirty="0"/>
              <a:t>의 </a:t>
            </a:r>
            <a:r>
              <a:rPr lang="en-US" altLang="ko-KR" dirty="0"/>
              <a:t>Pixel </a:t>
            </a:r>
            <a:r>
              <a:rPr lang="ko-KR" altLang="en-US" dirty="0"/>
              <a:t>값과 </a:t>
            </a:r>
            <a:r>
              <a:rPr lang="en-US" altLang="ko-KR" dirty="0"/>
              <a:t>Worm </a:t>
            </a:r>
            <a:r>
              <a:rPr lang="ko-KR" altLang="en-US" dirty="0"/>
              <a:t>객체의 </a:t>
            </a:r>
            <a:r>
              <a:rPr lang="en-US" altLang="ko-KR" dirty="0"/>
              <a:t>bottom </a:t>
            </a:r>
            <a:r>
              <a:rPr lang="ko-KR" altLang="en-US" dirty="0"/>
              <a:t>부분의 차이를 확인하며</a:t>
            </a:r>
            <a:br>
              <a:rPr lang="en-US" altLang="ko-KR"/>
            </a:br>
            <a:r>
              <a:rPr lang="ko-KR" altLang="en-US"/>
              <a:t>그 </a:t>
            </a:r>
            <a:r>
              <a:rPr lang="ko-KR" altLang="en-US" dirty="0"/>
              <a:t>차이가 범위 내에 존재하면 </a:t>
            </a:r>
            <a:r>
              <a:rPr lang="en-US" altLang="ko-KR" dirty="0"/>
              <a:t>Action</a:t>
            </a:r>
            <a:r>
              <a:rPr lang="ko-KR" altLang="en-US" dirty="0"/>
              <a:t>을 바꾸지 않게끔 제어하여 해결하였다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981825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565</TotalTime>
  <Words>599</Words>
  <Application>Microsoft Office PowerPoint</Application>
  <PresentationFormat>와이드스크린</PresentationFormat>
  <Paragraphs>85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갤러리</vt:lpstr>
      <vt:lpstr>Portfolio : Window API </vt:lpstr>
      <vt:lpstr>목차</vt:lpstr>
      <vt:lpstr>개요</vt:lpstr>
      <vt:lpstr>게임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: Window API </dc:title>
  <dc:creator>원서 박</dc:creator>
  <cp:lastModifiedBy>User</cp:lastModifiedBy>
  <cp:revision>33</cp:revision>
  <dcterms:created xsi:type="dcterms:W3CDTF">2023-11-24T06:32:15Z</dcterms:created>
  <dcterms:modified xsi:type="dcterms:W3CDTF">2025-01-13T03:12:02Z</dcterms:modified>
</cp:coreProperties>
</file>